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85" r:id="rId2"/>
    <p:sldId id="258" r:id="rId3"/>
    <p:sldId id="1690" r:id="rId4"/>
    <p:sldId id="257" r:id="rId5"/>
    <p:sldId id="261" r:id="rId6"/>
    <p:sldId id="1706" r:id="rId7"/>
    <p:sldId id="1694" r:id="rId8"/>
    <p:sldId id="1700" r:id="rId9"/>
    <p:sldId id="1695" r:id="rId10"/>
    <p:sldId id="1701" r:id="rId11"/>
    <p:sldId id="1696" r:id="rId12"/>
    <p:sldId id="1702" r:id="rId13"/>
    <p:sldId id="1697" r:id="rId14"/>
    <p:sldId id="1703" r:id="rId15"/>
    <p:sldId id="1698" r:id="rId16"/>
    <p:sldId id="16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7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6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0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0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8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0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8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9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1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50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9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02546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“Type a quote here.”"/>
          <p:cNvSpPr txBox="1">
            <a:spLocks noGrp="1"/>
          </p:cNvSpPr>
          <p:nvPr>
            <p:ph type="body" sz="quarter" idx="21"/>
          </p:nvPr>
        </p:nvSpPr>
        <p:spPr>
          <a:xfrm>
            <a:off x="1190625" y="3018235"/>
            <a:ext cx="9810750" cy="4801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1687"/>
              </a:spcBef>
              <a:buSzTx/>
              <a:buNone/>
            </a:lvl1pPr>
          </a:lstStyle>
          <a:p>
            <a:r>
              <a:t>“Type a quote here.”</a:t>
            </a:r>
          </a:p>
        </p:txBody>
      </p:sp>
      <p:sp>
        <p:nvSpPr>
          <p:cNvPr id="142" name="–Johnny Appleseed"/>
          <p:cNvSpPr txBox="1">
            <a:spLocks noGrp="1"/>
          </p:cNvSpPr>
          <p:nvPr>
            <p:ph type="body" sz="quarter" idx="22"/>
          </p:nvPr>
        </p:nvSpPr>
        <p:spPr>
          <a:xfrm>
            <a:off x="1190625" y="4473773"/>
            <a:ext cx="9810750" cy="368047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687"/>
              </a:spcBef>
              <a:buSzTx/>
              <a:buNone/>
              <a:defRPr sz="1969" i="1"/>
            </a:lvl1pPr>
          </a:lstStyle>
          <a:p>
            <a:r>
              <a:t>–Johnny Appleseed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03499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76313" y="187523"/>
            <a:ext cx="10239375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idx="1"/>
          </p:nvPr>
        </p:nvSpPr>
        <p:spPr>
          <a:xfrm>
            <a:off x="976313" y="1946672"/>
            <a:ext cx="10239375" cy="4018359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89286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11/5/2025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887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2C95-E99D-2E5E-C222-797953C51D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Modelling Exercise</a:t>
            </a:r>
            <a:endParaRPr lang="en-CA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CF3ABB3-0512-27F7-FE07-F5393E721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Hierarchical Task Networks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1457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ttp://editor.planning.domains/"/>
          <p:cNvSpPr txBox="1">
            <a:spLocks noGrp="1"/>
          </p:cNvSpPr>
          <p:nvPr>
            <p:ph type="body" idx="21"/>
          </p:nvPr>
        </p:nvSpPr>
        <p:spPr>
          <a:xfrm>
            <a:off x="1190625" y="1977320"/>
            <a:ext cx="9810750" cy="2903359"/>
          </a:xfrm>
          <a:prstGeom prst="rect">
            <a:avLst/>
          </a:prstGeom>
        </p:spPr>
        <p:txBody>
          <a:bodyPr/>
          <a:lstStyle/>
          <a:p>
            <a:r>
              <a:rPr lang="en-US" b="1" dirty="0"/>
              <a:t>Recommended Editor</a:t>
            </a:r>
            <a:r>
              <a:rPr lang="en-US" dirty="0"/>
              <a:t>:</a:t>
            </a:r>
          </a:p>
          <a:p>
            <a:r>
              <a:rPr lang="en-US" i="1" dirty="0" err="1"/>
              <a:t>VSCode</a:t>
            </a:r>
            <a:r>
              <a:rPr lang="en-US" i="1" dirty="0"/>
              <a:t> + </a:t>
            </a:r>
            <a:r>
              <a:rPr lang="en-US" b="1" i="1" dirty="0">
                <a:solidFill>
                  <a:schemeClr val="accent1"/>
                </a:solidFill>
              </a:rPr>
              <a:t>H</a:t>
            </a:r>
            <a:r>
              <a:rPr lang="en-US" i="1" dirty="0"/>
              <a:t>DDL Plugin</a:t>
            </a:r>
          </a:p>
          <a:p>
            <a:endParaRPr lang="en-US" i="1" dirty="0"/>
          </a:p>
          <a:p>
            <a:r>
              <a:rPr lang="en-US" b="1" dirty="0"/>
              <a:t>Recommended Planner</a:t>
            </a:r>
            <a:r>
              <a:rPr lang="en-US" dirty="0"/>
              <a:t>:</a:t>
            </a:r>
          </a:p>
          <a:p>
            <a:r>
              <a:rPr lang="en-US" i="1" dirty="0"/>
              <a:t>panda-viz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31C99-0DD6-7BF9-9B7E-30EDF5211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60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Online Editor         ( your IDE )…"/>
          <p:cNvSpPr txBox="1">
            <a:spLocks noGrp="1"/>
          </p:cNvSpPr>
          <p:nvPr>
            <p:ph type="body" idx="1"/>
          </p:nvPr>
        </p:nvSpPr>
        <p:spPr>
          <a:xfrm>
            <a:off x="2891913" y="1283042"/>
            <a:ext cx="6408174" cy="429191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46469" indent="-446469">
              <a:buSzPct val="100000"/>
              <a:buAutoNum type="arabicPeriod"/>
            </a:pPr>
            <a:r>
              <a:rPr lang="en-CA" dirty="0"/>
              <a:t>Simple Serve</a:t>
            </a:r>
            <a:br>
              <a:rPr lang="en-US" dirty="0"/>
            </a:br>
            <a:endParaRPr lang="en-US"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Complex Recipe</a:t>
            </a:r>
            <a:br>
              <a:rPr lang="en-US" dirty="0"/>
            </a:br>
            <a:endParaRPr lang="en-US"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Service &amp; Hands</a:t>
            </a:r>
            <a:br>
              <a:rPr lang="en-US" dirty="0"/>
            </a:br>
            <a:endParaRPr lang="en-US"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Order Up!</a:t>
            </a:r>
            <a:br>
              <a:rPr lang="en-US" dirty="0"/>
            </a:br>
            <a:endParaRPr lang="en-US" dirty="0"/>
          </a:p>
          <a:p>
            <a:pPr marL="446469" indent="-446469">
              <a:buSzPct val="100000"/>
              <a:buAutoNum type="arabicPeriod"/>
            </a:pPr>
            <a:r>
              <a:rPr lang="en-US" dirty="0"/>
              <a:t>Putting it all together</a:t>
            </a:r>
            <a:endParaRPr lang="en-CA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Moving Crat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Summary</a:t>
            </a:r>
            <a:endParaRPr dirty="0"/>
          </a:p>
        </p:txBody>
      </p:sp>
      <p:sp>
        <p:nvSpPr>
          <p:cNvPr id="179" name="Task: Create a planning model that orchestrates the           movement of crates in a warehouse via robo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  <a:defRPr b="1"/>
            </a:pPr>
            <a:r>
              <a:rPr dirty="0"/>
              <a:t>Task</a:t>
            </a:r>
            <a:r>
              <a:rPr b="0" dirty="0"/>
              <a:t>: </a:t>
            </a:r>
            <a:r>
              <a:rPr lang="en-CA" b="0" dirty="0"/>
              <a:t>Model the inner workings of a top-tier restaurant</a:t>
            </a:r>
            <a:br>
              <a:rPr lang="en-US" b="0" dirty="0"/>
            </a:br>
            <a:endParaRPr b="0" dirty="0"/>
          </a:p>
          <a:p>
            <a:pPr>
              <a:buBlip>
                <a:blip r:embed="rId2"/>
              </a:buBlip>
              <a:defRPr b="1"/>
            </a:pPr>
            <a:r>
              <a:rPr dirty="0"/>
              <a:t>Types</a:t>
            </a:r>
            <a:r>
              <a:rPr b="0" dirty="0"/>
              <a:t>: </a:t>
            </a:r>
            <a:r>
              <a:rPr lang="en-CA" b="0" dirty="0">
                <a:solidFill>
                  <a:schemeClr val="accent3"/>
                </a:solidFill>
              </a:rPr>
              <a:t>food (meal</a:t>
            </a:r>
            <a:r>
              <a:rPr lang="en-CA" b="0" dirty="0"/>
              <a:t>,</a:t>
            </a:r>
            <a:r>
              <a:rPr lang="en-CA" b="0" dirty="0">
                <a:solidFill>
                  <a:schemeClr val="accent3"/>
                </a:solidFill>
              </a:rPr>
              <a:t> dish</a:t>
            </a:r>
            <a:r>
              <a:rPr lang="en-CA" b="0" dirty="0"/>
              <a:t>,</a:t>
            </a:r>
            <a:r>
              <a:rPr lang="en-CA" b="0" dirty="0">
                <a:solidFill>
                  <a:schemeClr val="accent3"/>
                </a:solidFill>
              </a:rPr>
              <a:t> …)</a:t>
            </a:r>
            <a:r>
              <a:rPr lang="en-CA" b="0" dirty="0"/>
              <a:t>,</a:t>
            </a:r>
            <a:r>
              <a:rPr lang="en-CA" b="0" dirty="0">
                <a:solidFill>
                  <a:schemeClr val="accent3"/>
                </a:solidFill>
              </a:rPr>
              <a:t> person (server</a:t>
            </a:r>
            <a:r>
              <a:rPr lang="en-CA" b="0" dirty="0"/>
              <a:t>,</a:t>
            </a:r>
            <a:r>
              <a:rPr lang="en-CA" b="0" dirty="0">
                <a:solidFill>
                  <a:schemeClr val="accent3"/>
                </a:solidFill>
              </a:rPr>
              <a:t> chef</a:t>
            </a:r>
            <a:r>
              <a:rPr lang="en-CA" b="0" dirty="0"/>
              <a:t>,</a:t>
            </a:r>
            <a:r>
              <a:rPr lang="en-CA" dirty="0">
                <a:solidFill>
                  <a:schemeClr val="accent3"/>
                </a:solidFill>
              </a:rPr>
              <a:t> </a:t>
            </a:r>
            <a:r>
              <a:rPr lang="en-CA" b="0" dirty="0">
                <a:solidFill>
                  <a:schemeClr val="accent3"/>
                </a:solidFill>
              </a:rPr>
              <a:t>guest)</a:t>
            </a:r>
            <a:r>
              <a:rPr b="0" dirty="0"/>
              <a:t>, </a:t>
            </a:r>
            <a:r>
              <a:rPr lang="en-CA" b="0" dirty="0">
                <a:solidFill>
                  <a:schemeClr val="accent3"/>
                </a:solidFill>
              </a:rPr>
              <a:t>room</a:t>
            </a:r>
            <a:endParaRPr lang="fr-FR" b="0" dirty="0">
              <a:solidFill>
                <a:schemeClr val="accent3"/>
              </a:solidFill>
            </a:endParaRPr>
          </a:p>
          <a:p>
            <a:pPr>
              <a:buBlip>
                <a:blip r:embed="rId2"/>
              </a:buBlip>
              <a:defRPr b="1"/>
            </a:pPr>
            <a:r>
              <a:rPr lang="fr-FR" dirty="0" err="1"/>
              <a:t>Predicates</a:t>
            </a:r>
            <a:r>
              <a:rPr lang="fr-FR" b="0" dirty="0"/>
              <a:t>: </a:t>
            </a:r>
            <a:r>
              <a:rPr lang="fr-FR" b="0" dirty="0">
                <a:solidFill>
                  <a:schemeClr val="accent2"/>
                </a:solidFill>
              </a:rPr>
              <a:t>has-</a:t>
            </a:r>
            <a:r>
              <a:rPr lang="fr-FR" b="0" dirty="0" err="1">
                <a:solidFill>
                  <a:schemeClr val="accent2"/>
                </a:solidFill>
              </a:rPr>
              <a:t>ingredient</a:t>
            </a:r>
            <a:r>
              <a:rPr lang="fr-FR" b="0" dirty="0"/>
              <a:t>, </a:t>
            </a:r>
            <a:r>
              <a:rPr lang="fr-FR" b="0" dirty="0" err="1">
                <a:solidFill>
                  <a:schemeClr val="accent2"/>
                </a:solidFill>
              </a:rPr>
              <a:t>prepared</a:t>
            </a:r>
            <a:r>
              <a:rPr lang="fr-FR" b="0" dirty="0"/>
              <a:t>, </a:t>
            </a:r>
            <a:r>
              <a:rPr lang="fr-FR" b="0" dirty="0" err="1">
                <a:solidFill>
                  <a:schemeClr val="accent2"/>
                </a:solidFill>
              </a:rPr>
              <a:t>ordered</a:t>
            </a:r>
            <a:r>
              <a:rPr lang="fr-FR" b="0" dirty="0"/>
              <a:t>, </a:t>
            </a:r>
            <a:r>
              <a:rPr lang="fr-FR" b="1" dirty="0">
                <a:solidFill>
                  <a:schemeClr val="accent2"/>
                </a:solidFill>
              </a:rPr>
              <a:t>…</a:t>
            </a:r>
          </a:p>
          <a:p>
            <a:pPr>
              <a:buBlip>
                <a:blip r:embed="rId2"/>
              </a:buBlip>
              <a:defRPr b="1"/>
            </a:pPr>
            <a:r>
              <a:rPr dirty="0"/>
              <a:t>Actions</a:t>
            </a:r>
            <a:r>
              <a:rPr b="0" dirty="0"/>
              <a:t>: </a:t>
            </a:r>
            <a:r>
              <a:rPr lang="en-US" b="0" dirty="0">
                <a:solidFill>
                  <a:schemeClr val="accent4"/>
                </a:solidFill>
              </a:rPr>
              <a:t>prepare-dish</a:t>
            </a:r>
            <a:r>
              <a:rPr b="0" dirty="0"/>
              <a:t>, </a:t>
            </a:r>
            <a:r>
              <a:rPr lang="en-US" b="0" dirty="0">
                <a:solidFill>
                  <a:schemeClr val="accent4"/>
                </a:solidFill>
              </a:rPr>
              <a:t>prepare-ingredient</a:t>
            </a:r>
            <a:r>
              <a:rPr lang="en-CA" b="0" dirty="0"/>
              <a:t>, </a:t>
            </a:r>
            <a:r>
              <a:rPr lang="en-CA" dirty="0">
                <a:solidFill>
                  <a:schemeClr val="accent4"/>
                </a:solidFill>
              </a:rPr>
              <a:t>…</a:t>
            </a:r>
          </a:p>
          <a:p>
            <a:pPr>
              <a:defRPr b="1"/>
            </a:pPr>
            <a:r>
              <a:rPr lang="en-US" dirty="0"/>
              <a:t>Tasks</a:t>
            </a:r>
            <a:r>
              <a:rPr lang="en-US" b="0" dirty="0"/>
              <a:t>: </a:t>
            </a:r>
            <a:r>
              <a:rPr lang="en-US" b="0" dirty="0">
                <a:solidFill>
                  <a:schemeClr val="accent1"/>
                </a:solidFill>
              </a:rPr>
              <a:t>serve-couple</a:t>
            </a:r>
            <a:r>
              <a:rPr lang="en-US" b="0" dirty="0"/>
              <a:t>, </a:t>
            </a:r>
            <a:r>
              <a:rPr lang="en-US" b="0" dirty="0">
                <a:solidFill>
                  <a:schemeClr val="accent1"/>
                </a:solidFill>
              </a:rPr>
              <a:t>prepare-ingredients</a:t>
            </a:r>
            <a:r>
              <a:rPr lang="en-US" b="0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…</a:t>
            </a:r>
          </a:p>
          <a:p>
            <a:pPr>
              <a:defRPr b="1"/>
            </a:pPr>
            <a:r>
              <a:rPr lang="en-US" dirty="0"/>
              <a:t>Methods</a:t>
            </a:r>
            <a:r>
              <a:rPr lang="en-US" b="0" dirty="0"/>
              <a:t>: </a:t>
            </a:r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m_two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-course-meal</a:t>
            </a:r>
            <a:r>
              <a:rPr lang="en-US" b="0" dirty="0"/>
              <a:t>, </a:t>
            </a:r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m_server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-couple</a:t>
            </a:r>
            <a:r>
              <a:rPr lang="en-US" b="0" dirty="0"/>
              <a:t>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</a:t>
            </a:r>
          </a:p>
          <a:p>
            <a:pPr>
              <a:buBlip>
                <a:blip r:embed="rId2"/>
              </a:buBlip>
              <a:defRPr b="1"/>
            </a:pPr>
            <a:r>
              <a:rPr dirty="0"/>
              <a:t>Initial State / Goal</a:t>
            </a:r>
            <a:r>
              <a:rPr b="0" dirty="0"/>
              <a:t>: </a:t>
            </a:r>
            <a:r>
              <a:rPr lang="en-US" b="0" dirty="0"/>
              <a:t>Restaurant configuration</a:t>
            </a:r>
            <a:endParaRPr b="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B7E21D-5603-5750-AC1E-A363C0F5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Tips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74ED63-F4F6-B5B8-C18E-87C310164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895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To solve:</a:t>
            </a:r>
            <a:br>
              <a:rPr lang="en-CA" dirty="0"/>
            </a:br>
            <a:r>
              <a:rPr lang="en-CA" dirty="0"/>
              <a:t>	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panda-viz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domain.hddl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problem.hddl</a:t>
            </a:r>
            <a:br>
              <a:rPr lang="en-CA" dirty="0">
                <a:solidFill>
                  <a:schemeClr val="tx2">
                    <a:lumMod val="75000"/>
                  </a:schemeClr>
                </a:solidFill>
              </a:rPr>
            </a:br>
            <a:br>
              <a:rPr lang="en-CA" dirty="0"/>
            </a:br>
            <a:endParaRPr lang="en-CA" dirty="0"/>
          </a:p>
          <a:p>
            <a:r>
              <a:rPr lang="en-CA" dirty="0"/>
              <a:t>To see the plan:</a:t>
            </a:r>
            <a:br>
              <a:rPr lang="en-CA" dirty="0"/>
            </a:br>
            <a:r>
              <a:rPr lang="en-CA" dirty="0"/>
              <a:t>	</a:t>
            </a:r>
            <a:r>
              <a:rPr lang="en-CA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open link printed in the terminal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189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Simple Server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45877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Warm-up:</a:t>
            </a:r>
            <a:br>
              <a:rPr lang="en-CA" dirty="0"/>
            </a:br>
            <a:endParaRPr lang="en-CA" dirty="0"/>
          </a:p>
          <a:p>
            <a:r>
              <a:rPr lang="en-CA" dirty="0"/>
              <a:t>We’d like to serve a couple either a 2- or 3-course meal</a:t>
            </a:r>
          </a:p>
          <a:p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m_server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-couple</a:t>
            </a:r>
            <a:r>
              <a:rPr lang="en-CA" dirty="0"/>
              <a:t>: Prepares a meal for each</a:t>
            </a:r>
          </a:p>
          <a:p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m_three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-course-meal</a:t>
            </a:r>
            <a:r>
              <a:rPr lang="en-CA" dirty="0"/>
              <a:t>: Prepares a 3-course meal</a:t>
            </a:r>
          </a:p>
          <a:p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m_two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-course-meal</a:t>
            </a:r>
            <a:r>
              <a:rPr lang="en-CA" dirty="0"/>
              <a:t>: Prepares a 2-course meal</a:t>
            </a:r>
          </a:p>
          <a:p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m_prepare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-ingredients</a:t>
            </a:r>
            <a:r>
              <a:rPr lang="en-CA" dirty="0"/>
              <a:t>: Recursive definition to prepare ingredients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 err="1"/>
              <a:t>htn</a:t>
            </a:r>
            <a:r>
              <a:rPr lang="en-CA" dirty="0"/>
              <a:t>  /  methods</a:t>
            </a:r>
          </a:p>
        </p:txBody>
      </p:sp>
    </p:spTree>
    <p:extLst>
      <p:ext uri="{BB962C8B-B14F-4D97-AF65-F5344CB8AC3E}">
        <p14:creationId xmlns:p14="http://schemas.microsoft.com/office/powerpoint/2010/main" val="1315833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 err="1"/>
              <a:t>htn</a:t>
            </a:r>
            <a:r>
              <a:rPr lang="en-CA" sz="2800" dirty="0"/>
              <a:t>  /  </a:t>
            </a:r>
            <a:r>
              <a:rPr lang="en-CA" dirty="0"/>
              <a:t>methodical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03149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Complex Recipe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It’s all about the right ordering constraints for this one.</a:t>
            </a:r>
          </a:p>
          <a:p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m_prepare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-special-salad</a:t>
            </a:r>
            <a:r>
              <a:rPr lang="en-CA" dirty="0"/>
              <a:t>: Prep the ingredients, concurrently with the</a:t>
            </a:r>
            <a:br>
              <a:rPr lang="en-CA" dirty="0"/>
            </a:br>
            <a:r>
              <a:rPr lang="en-CA" dirty="0"/>
              <a:t>   three sequential steps of a tasty arugula fennel salad</a:t>
            </a:r>
          </a:p>
          <a:p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m_server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-couple</a:t>
            </a:r>
            <a:r>
              <a:rPr lang="en-CA" dirty="0"/>
              <a:t>: Serve them a single special </a:t>
            </a:r>
            <a:r>
              <a:rPr lang="en-CA" i="1" dirty="0"/>
              <a:t>and</a:t>
            </a:r>
            <a:r>
              <a:rPr lang="en-CA" dirty="0"/>
              <a:t> each a meal</a:t>
            </a:r>
          </a:p>
          <a:p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m_*-course-meal</a:t>
            </a:r>
            <a:r>
              <a:rPr lang="en-CA" dirty="0"/>
              <a:t>: Only orderings should be ap + main before dessert</a:t>
            </a:r>
            <a:br>
              <a:rPr lang="en-CA" dirty="0"/>
            </a:br>
            <a:endParaRPr lang="en-CA" dirty="0"/>
          </a:p>
          <a:p>
            <a:r>
              <a:rPr lang="en-CA" dirty="0"/>
              <a:t>Notes:</a:t>
            </a:r>
          </a:p>
          <a:p>
            <a:pPr lvl="1"/>
            <a:r>
              <a:rPr lang="en-CA" dirty="0"/>
              <a:t>We’ve moved the ingredients list into hard-coded actions. Why?</a:t>
            </a:r>
          </a:p>
          <a:p>
            <a:pPr lvl="1"/>
            <a:r>
              <a:rPr lang="en-CA" dirty="0"/>
              <a:t>Hard to solve 2 meals + special – comment out at least one (may need restarts)</a:t>
            </a:r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 err="1"/>
              <a:t>htn</a:t>
            </a:r>
            <a:r>
              <a:rPr lang="en-CA" sz="2800" dirty="0"/>
              <a:t>  /</a:t>
            </a:r>
            <a:r>
              <a:rPr lang="en-CA" dirty="0"/>
              <a:t>  yum</a:t>
            </a:r>
            <a:endParaRPr lang="en-CA" sz="2800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501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 err="1"/>
              <a:t>htn</a:t>
            </a:r>
            <a:r>
              <a:rPr lang="en-CA" sz="2800" dirty="0"/>
              <a:t>  /  yummy</a:t>
            </a:r>
          </a:p>
        </p:txBody>
      </p:sp>
    </p:spTree>
    <p:extLst>
      <p:ext uri="{BB962C8B-B14F-4D97-AF65-F5344CB8AC3E}">
        <p14:creationId xmlns:p14="http://schemas.microsoft.com/office/powerpoint/2010/main" val="310844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3. Service &amp; Hands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356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CA" dirty="0"/>
              <a:t>Let’s forget about the ingredients for a moment and figure out how to get the</a:t>
            </a:r>
            <a:br>
              <a:rPr lang="en-CA" dirty="0"/>
            </a:br>
            <a:r>
              <a:rPr lang="en-CA" dirty="0"/>
              <a:t>food to our customers. Meals are insta-prep, and movement is challenging.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Take note of the actions (primitive tasks) available to you</a:t>
            </a:r>
          </a:p>
          <a:p>
            <a:r>
              <a:rPr lang="en-CA" dirty="0"/>
              <a:t>Check out the </a:t>
            </a:r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m_handle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-order </a:t>
            </a:r>
            <a:r>
              <a:rPr lang="en-CA" dirty="0"/>
              <a:t>method (mix of primitive/complex subtasks)</a:t>
            </a:r>
          </a:p>
          <a:p>
            <a:r>
              <a:rPr lang="en-CA" dirty="0"/>
              <a:t>Implement the </a:t>
            </a:r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m_deliver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-meal </a:t>
            </a:r>
            <a:r>
              <a:rPr lang="en-CA" dirty="0"/>
              <a:t>method that gets a meal delivered</a:t>
            </a:r>
          </a:p>
          <a:p>
            <a:r>
              <a:rPr lang="en-CA" dirty="0"/>
              <a:t>Implement the recursive </a:t>
            </a:r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m_goto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CA" dirty="0"/>
              <a:t>method that moves someone to a final location</a:t>
            </a:r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 err="1"/>
              <a:t>htn</a:t>
            </a:r>
            <a:r>
              <a:rPr lang="en-CA" sz="2800" dirty="0"/>
              <a:t>  /  hands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989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 err="1"/>
              <a:t>htn</a:t>
            </a:r>
            <a:r>
              <a:rPr lang="en-CA" sz="2800" dirty="0"/>
              <a:t>  /  </a:t>
            </a:r>
            <a:r>
              <a:rPr lang="en-CA" sz="2800" dirty="0" err="1"/>
              <a:t>onyourleft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3747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4. </a:t>
            </a:r>
            <a:r>
              <a:rPr lang="en-US" dirty="0"/>
              <a:t>Order Up!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48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Let’s go back to our arugula fennel salad…</a:t>
            </a:r>
          </a:p>
          <a:p>
            <a:r>
              <a:rPr lang="en-CA" dirty="0"/>
              <a:t>Run the starting code, and notice how it just doesn’t budge</a:t>
            </a:r>
          </a:p>
          <a:p>
            <a:r>
              <a:rPr lang="en-CA" dirty="0"/>
              <a:t>Try </a:t>
            </a:r>
            <a:r>
              <a:rPr lang="en-CA" dirty="0" err="1"/>
              <a:t>prep’ing</a:t>
            </a:r>
            <a:r>
              <a:rPr lang="en-CA" dirty="0"/>
              <a:t> just the special or both meals, and see what happens</a:t>
            </a:r>
          </a:p>
          <a:p>
            <a:r>
              <a:rPr lang="en-CA" dirty="0"/>
              <a:t>Go manual with the salad ingredients:</a:t>
            </a:r>
          </a:p>
          <a:p>
            <a:pPr lvl="1"/>
            <a:r>
              <a:rPr lang="en-CA" dirty="0"/>
              <a:t>Add a new </a:t>
            </a:r>
            <a:r>
              <a:rPr lang="en-US" b="0" dirty="0">
                <a:solidFill>
                  <a:schemeClr val="accent1"/>
                </a:solidFill>
              </a:rPr>
              <a:t>prepare-salad-ingredients </a:t>
            </a:r>
            <a:r>
              <a:rPr lang="en-CA" dirty="0"/>
              <a:t>task</a:t>
            </a:r>
          </a:p>
          <a:p>
            <a:pPr lvl="1"/>
            <a:r>
              <a:rPr lang="en-CA" dirty="0"/>
              <a:t>Change the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m_prepare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special-salad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CA" dirty="0"/>
              <a:t>method to use it</a:t>
            </a:r>
          </a:p>
          <a:p>
            <a:pPr lvl="1"/>
            <a:r>
              <a:rPr lang="en-CA" dirty="0"/>
              <a:t>Add a new </a:t>
            </a:r>
            <a:r>
              <a:rPr lang="en-US" b="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m_prepare</a:t>
            </a:r>
            <a:r>
              <a:rPr lang="en-US" b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-salad-ingredients </a:t>
            </a:r>
            <a:r>
              <a:rPr lang="en-CA" dirty="0"/>
              <a:t>method for the new task that prepares all of the necessary ingredients for the special (manually listed)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marL="0" indent="0" algn="ctr">
              <a:buNone/>
            </a:pPr>
            <a:r>
              <a:rPr lang="en-CA" sz="2800" dirty="0" err="1"/>
              <a:t>htn</a:t>
            </a:r>
            <a:r>
              <a:rPr lang="en-CA" sz="2800" dirty="0"/>
              <a:t>  /  </a:t>
            </a:r>
            <a:r>
              <a:rPr lang="en-CA" sz="2800" dirty="0" err="1"/>
              <a:t>preptime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7719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 algn="ctr">
              <a:buNone/>
            </a:pPr>
            <a:r>
              <a:rPr lang="en-CA" sz="2800" dirty="0" err="1"/>
              <a:t>htn</a:t>
            </a:r>
            <a:r>
              <a:rPr lang="en-CA" sz="2800" dirty="0"/>
              <a:t>  /  </a:t>
            </a:r>
            <a:r>
              <a:rPr lang="en-CA" sz="2800" dirty="0" err="1"/>
              <a:t>fastfood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64654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71A6AD-DBE4-A4DF-014A-A91F9570D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0EAC0C6-7B8A-1444-CF6E-AFD7613F9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5. Putting it All Together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6B2140-6178-6477-FAC2-4FC081B9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1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Let’s look at how we can piece together a full hierarchy of service.</a:t>
            </a:r>
          </a:p>
          <a:p>
            <a:pPr lvl="1"/>
            <a:r>
              <a:rPr lang="en-CA" dirty="0"/>
              <a:t>Service to take orders at the table.</a:t>
            </a:r>
          </a:p>
          <a:p>
            <a:pPr lvl="1"/>
            <a:r>
              <a:rPr lang="en-CA" dirty="0"/>
              <a:t>Recursive call to accept all orders.</a:t>
            </a:r>
          </a:p>
          <a:p>
            <a:pPr lvl="1"/>
            <a:r>
              <a:rPr lang="en-CA" dirty="0"/>
              <a:t>Chef availability for making meals.</a:t>
            </a:r>
          </a:p>
          <a:p>
            <a:pPr lvl="1"/>
            <a:r>
              <a:rPr lang="en-CA" dirty="0"/>
              <a:t>Recursive movement on the “hands” call.</a:t>
            </a:r>
          </a:p>
          <a:p>
            <a:pPr lvl="1"/>
            <a:r>
              <a:rPr lang="en-CA" dirty="0"/>
              <a:t>Diversity in the meals ordered on the night.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Ideas to extend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Bring back recipes; chef specialties; deal with (dirty) dishes; finite ingredients; fetching things from the walk-in fridge; etc.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71511909-E613-95F4-2BF2-88037169F204}"/>
              </a:ext>
            </a:extLst>
          </p:cNvPr>
          <p:cNvSpPr txBox="1">
            <a:spLocks/>
          </p:cNvSpPr>
          <p:nvPr/>
        </p:nvSpPr>
        <p:spPr>
          <a:xfrm>
            <a:off x="8122920" y="3122612"/>
            <a:ext cx="2707640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CA" sz="3200" b="1" dirty="0" err="1">
                <a:solidFill>
                  <a:schemeClr val="accent2"/>
                </a:solidFill>
              </a:rPr>
              <a:t>htn</a:t>
            </a:r>
            <a:r>
              <a:rPr lang="en-CA" sz="3200" b="1" dirty="0">
                <a:solidFill>
                  <a:schemeClr val="accent2"/>
                </a:solidFill>
              </a:rPr>
              <a:t>  /  </a:t>
            </a:r>
            <a:r>
              <a:rPr lang="en-CA" sz="3200" b="1" dirty="0" err="1">
                <a:solidFill>
                  <a:schemeClr val="accent2"/>
                </a:solidFill>
              </a:rPr>
              <a:t>thebear</a:t>
            </a:r>
            <a:endParaRPr lang="en-CA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42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45925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5669</TotalTime>
  <Words>571</Words>
  <Application>Microsoft Office PowerPoint</Application>
  <PresentationFormat>Widescreen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Source Sans Pro</vt:lpstr>
      <vt:lpstr>FunkyShapesDarkVTI</vt:lpstr>
      <vt:lpstr>Modelling Exercise</vt:lpstr>
      <vt:lpstr>PowerPoint Presentation</vt:lpstr>
      <vt:lpstr>PowerPoint Presentation</vt:lpstr>
      <vt:lpstr>PowerPoint Presentation</vt:lpstr>
      <vt:lpstr>Summary</vt:lpstr>
      <vt:lpstr>Running Tips</vt:lpstr>
      <vt:lpstr>1. Simple Server</vt:lpstr>
      <vt:lpstr>PowerPoint Presentation</vt:lpstr>
      <vt:lpstr>2. Complex Recipe</vt:lpstr>
      <vt:lpstr>PowerPoint Presentation</vt:lpstr>
      <vt:lpstr>3. Service &amp; Hands</vt:lpstr>
      <vt:lpstr>PowerPoint Presentation</vt:lpstr>
      <vt:lpstr>4. Order Up!</vt:lpstr>
      <vt:lpstr>PowerPoint Presentation</vt:lpstr>
      <vt:lpstr>5. Putting it All Together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Exercise</dc:title>
  <dc:creator>Christian Muise</dc:creator>
  <cp:lastModifiedBy>Christian Muise</cp:lastModifiedBy>
  <cp:revision>28</cp:revision>
  <dcterms:created xsi:type="dcterms:W3CDTF">2022-12-22T14:48:06Z</dcterms:created>
  <dcterms:modified xsi:type="dcterms:W3CDTF">2025-11-05T19:19:02Z</dcterms:modified>
</cp:coreProperties>
</file>