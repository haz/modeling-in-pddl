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85" r:id="rId2"/>
    <p:sldId id="258" r:id="rId3"/>
    <p:sldId id="1690" r:id="rId4"/>
    <p:sldId id="257" r:id="rId5"/>
    <p:sldId id="261" r:id="rId6"/>
    <p:sldId id="1693" r:id="rId7"/>
    <p:sldId id="1694" r:id="rId8"/>
    <p:sldId id="1700" r:id="rId9"/>
    <p:sldId id="1695" r:id="rId10"/>
    <p:sldId id="1701" r:id="rId11"/>
    <p:sldId id="1696" r:id="rId12"/>
    <p:sldId id="1702" r:id="rId13"/>
    <p:sldId id="1697" r:id="rId14"/>
    <p:sldId id="1703" r:id="rId15"/>
    <p:sldId id="1698" r:id="rId16"/>
    <p:sldId id="1706" r:id="rId17"/>
    <p:sldId id="1708" r:id="rId18"/>
    <p:sldId id="1707" r:id="rId19"/>
    <p:sldId id="1704" r:id="rId20"/>
    <p:sldId id="168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6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0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0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8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0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8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9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5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9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2546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“Type a quote here.”"/>
          <p:cNvSpPr txBox="1">
            <a:spLocks noGrp="1"/>
          </p:cNvSpPr>
          <p:nvPr>
            <p:ph type="body" sz="quarter" idx="21"/>
          </p:nvPr>
        </p:nvSpPr>
        <p:spPr>
          <a:xfrm>
            <a:off x="1190625" y="3018235"/>
            <a:ext cx="9810750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1687"/>
              </a:spcBef>
              <a:buSzTx/>
              <a:buNone/>
            </a:lvl1pPr>
          </a:lstStyle>
          <a:p>
            <a:r>
              <a:t>“Type a quote here.”</a:t>
            </a:r>
          </a:p>
        </p:txBody>
      </p:sp>
      <p:sp>
        <p:nvSpPr>
          <p:cNvPr id="142" name="–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1190625" y="4473773"/>
            <a:ext cx="9810750" cy="368047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687"/>
              </a:spcBef>
              <a:buSzTx/>
              <a:buNone/>
              <a:defRPr sz="1969" i="1"/>
            </a:lvl1pPr>
          </a:lstStyle>
          <a:p>
            <a:r>
              <a:t>–Johnny Appleseed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3499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76313" y="187523"/>
            <a:ext cx="10239375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/>
          </p:nvPr>
        </p:nvSpPr>
        <p:spPr>
          <a:xfrm>
            <a:off x="976313" y="1946672"/>
            <a:ext cx="10239375" cy="4018359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9286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9/23/2025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887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0BhhsEuYXZQ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WnnmFSC_Xo?feature=oembed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2C95-E99D-2E5E-C222-797953C51D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Modelling Exercise</a:t>
            </a:r>
            <a:endParaRPr lang="en-CA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CF3ABB3-0512-27F7-FE07-F5393E721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Fully Observable Non-Deterministic Planning</a:t>
            </a:r>
          </a:p>
          <a:p>
            <a:r>
              <a:rPr lang="en-US" dirty="0"/>
              <a:t>FOND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45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ttp://editor.planning.domains/"/>
          <p:cNvSpPr txBox="1">
            <a:spLocks noGrp="1"/>
          </p:cNvSpPr>
          <p:nvPr>
            <p:ph type="body" idx="21"/>
          </p:nvPr>
        </p:nvSpPr>
        <p:spPr>
          <a:xfrm>
            <a:off x="1190625" y="1589522"/>
            <a:ext cx="9810750" cy="3678956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Recommended Editor</a:t>
            </a:r>
            <a:r>
              <a:rPr lang="en-US" dirty="0"/>
              <a:t>:</a:t>
            </a:r>
          </a:p>
          <a:p>
            <a:r>
              <a:rPr lang="en-US" i="1" dirty="0" err="1"/>
              <a:t>VSCode</a:t>
            </a:r>
            <a:r>
              <a:rPr lang="en-US" i="1" dirty="0"/>
              <a:t> + PDDL Plugin</a:t>
            </a:r>
            <a:br>
              <a:rPr lang="en-US" i="1" dirty="0"/>
            </a:br>
            <a:endParaRPr lang="en-US" i="1" dirty="0"/>
          </a:p>
          <a:p>
            <a:r>
              <a:rPr lang="en-US" b="1" dirty="0"/>
              <a:t>Recommended Planner</a:t>
            </a:r>
            <a:r>
              <a:rPr lang="en-US" dirty="0"/>
              <a:t>:</a:t>
            </a:r>
          </a:p>
          <a:p>
            <a:r>
              <a:rPr lang="en-US" i="1" dirty="0"/>
              <a:t>PR2</a:t>
            </a:r>
          </a:p>
          <a:p>
            <a:pPr algn="l"/>
            <a:r>
              <a:rPr lang="en-US" dirty="0"/>
              <a:t>		</a:t>
            </a:r>
            <a:r>
              <a:rPr lang="en-US" dirty="0" err="1"/>
              <a:t>prppp</a:t>
            </a:r>
            <a:r>
              <a:rPr lang="en-US" dirty="0"/>
              <a:t> </a:t>
            </a:r>
            <a:r>
              <a:rPr lang="en-US" dirty="0" err="1"/>
              <a:t>dom.pddl</a:t>
            </a:r>
            <a:r>
              <a:rPr lang="en-US" dirty="0"/>
              <a:t> </a:t>
            </a:r>
            <a:r>
              <a:rPr lang="en-US" dirty="0" err="1"/>
              <a:t>prob.pddl</a:t>
            </a:r>
            <a:r>
              <a:rPr lang="en-US" dirty="0"/>
              <a:t> --output-format 3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prpviz</a:t>
            </a:r>
            <a:r>
              <a:rPr lang="en-US" dirty="0"/>
              <a:t> </a:t>
            </a:r>
            <a:r>
              <a:rPr lang="en-US" dirty="0" err="1"/>
              <a:t>policy.out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EPIC! Crazy Car Pileup in Montreal. Bus Police and Snowplow!">
            <a:hlinkClick r:id="" action="ppaction://media"/>
            <a:extLst>
              <a:ext uri="{FF2B5EF4-FFF2-40B4-BE49-F238E27FC236}">
                <a16:creationId xmlns:a16="http://schemas.microsoft.com/office/drawing/2014/main" id="{5AF99085-E0DE-BF78-D4CD-B2959147589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65027" cy="68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Online Editor         ( your IDE )…"/>
          <p:cNvSpPr txBox="1">
            <a:spLocks noGrp="1"/>
          </p:cNvSpPr>
          <p:nvPr>
            <p:ph type="body" idx="1"/>
          </p:nvPr>
        </p:nvSpPr>
        <p:spPr>
          <a:xfrm>
            <a:off x="2891913" y="1046905"/>
            <a:ext cx="6408174" cy="476418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46469" indent="-446469">
              <a:buSzPct val="100000"/>
              <a:buAutoNum type="arabicPeriod"/>
            </a:pPr>
            <a:r>
              <a:rPr lang="en-US" dirty="0"/>
              <a:t>Moving around snow-free roads</a:t>
            </a:r>
            <a:br>
              <a:rPr lang="en-US" dirty="0"/>
            </a:br>
            <a:endParaRPr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Observing the snowy status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Better snow analysis</a:t>
            </a:r>
            <a:br>
              <a:rPr lang="en-US" dirty="0"/>
            </a:br>
            <a:endParaRPr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Going home to bed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2-way streets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Getting a job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oving Cra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Summary</a:t>
            </a:r>
            <a:endParaRPr dirty="0"/>
          </a:p>
        </p:txBody>
      </p:sp>
      <p:sp>
        <p:nvSpPr>
          <p:cNvPr id="179" name="Task: Create a planning model that orchestrates the           movement of crates in a warehouse via robo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  <a:defRPr b="1"/>
            </a:pPr>
            <a:r>
              <a:rPr dirty="0"/>
              <a:t>Task</a:t>
            </a:r>
            <a:r>
              <a:rPr b="0" dirty="0"/>
              <a:t>: Create a planning model that </a:t>
            </a:r>
            <a:r>
              <a:rPr lang="en-US" b="0" dirty="0"/>
              <a:t>lets you navigate the</a:t>
            </a:r>
            <a:br>
              <a:rPr lang="en-US" b="0" dirty="0"/>
            </a:br>
            <a:r>
              <a:rPr lang="en-US" b="0" dirty="0"/>
              <a:t>	(non-deterministically) snowy streets of Kingston</a:t>
            </a:r>
            <a:br>
              <a:rPr lang="en-US" b="0" dirty="0"/>
            </a:br>
            <a:endParaRPr b="0" dirty="0"/>
          </a:p>
          <a:p>
            <a:pPr>
              <a:buBlip>
                <a:blip r:embed="rId2"/>
              </a:buBlip>
              <a:defRPr b="1"/>
            </a:pPr>
            <a:r>
              <a:rPr dirty="0"/>
              <a:t>Types</a:t>
            </a:r>
            <a:r>
              <a:rPr b="0" dirty="0"/>
              <a:t>:</a:t>
            </a:r>
            <a:r>
              <a:rPr lang="en-US" dirty="0"/>
              <a:t> None!</a:t>
            </a:r>
            <a:endParaRPr lang="fr-FR" dirty="0">
              <a:solidFill>
                <a:schemeClr val="accent3"/>
              </a:solidFill>
            </a:endParaRPr>
          </a:p>
          <a:p>
            <a:pPr>
              <a:buBlip>
                <a:blip r:embed="rId2"/>
              </a:buBlip>
              <a:defRPr b="1"/>
            </a:pPr>
            <a:r>
              <a:rPr lang="fr-FR" dirty="0" err="1"/>
              <a:t>Predicates</a:t>
            </a:r>
            <a:r>
              <a:rPr lang="fr-FR" b="0" dirty="0"/>
              <a:t>: </a:t>
            </a:r>
            <a:r>
              <a:rPr lang="fr-FR" b="0" dirty="0">
                <a:solidFill>
                  <a:schemeClr val="accent2"/>
                </a:solidFill>
              </a:rPr>
              <a:t>at</a:t>
            </a:r>
            <a:r>
              <a:rPr lang="fr-FR" b="0" dirty="0"/>
              <a:t>, </a:t>
            </a:r>
            <a:r>
              <a:rPr lang="fr-FR" b="0" dirty="0">
                <a:solidFill>
                  <a:schemeClr val="accent2"/>
                </a:solidFill>
              </a:rPr>
              <a:t>road</a:t>
            </a:r>
            <a:r>
              <a:rPr lang="fr-FR" b="0" dirty="0"/>
              <a:t>, </a:t>
            </a:r>
            <a:r>
              <a:rPr lang="fr-FR" b="0" dirty="0" err="1">
                <a:solidFill>
                  <a:schemeClr val="accent2"/>
                </a:solidFill>
              </a:rPr>
              <a:t>snow</a:t>
            </a:r>
            <a:r>
              <a:rPr lang="fr-FR" b="0" dirty="0"/>
              <a:t>, </a:t>
            </a:r>
            <a:r>
              <a:rPr lang="fr-FR" b="0" dirty="0" err="1">
                <a:solidFill>
                  <a:schemeClr val="accent2"/>
                </a:solidFill>
              </a:rPr>
              <a:t>observed</a:t>
            </a:r>
            <a:r>
              <a:rPr lang="fr-FR" b="0" dirty="0"/>
              <a:t>, </a:t>
            </a:r>
            <a:r>
              <a:rPr lang="fr-FR" b="0" dirty="0">
                <a:solidFill>
                  <a:schemeClr val="accent2"/>
                </a:solidFill>
              </a:rPr>
              <a:t>…</a:t>
            </a:r>
            <a:endParaRPr lang="fr-FR" dirty="0">
              <a:solidFill>
                <a:schemeClr val="accent2"/>
              </a:solidFill>
            </a:endParaRPr>
          </a:p>
          <a:p>
            <a:pPr>
              <a:buBlip>
                <a:blip r:embed="rId2"/>
              </a:buBlip>
              <a:defRPr b="1"/>
            </a:pPr>
            <a:r>
              <a:rPr dirty="0"/>
              <a:t>Actions</a:t>
            </a:r>
            <a:r>
              <a:rPr b="0" dirty="0"/>
              <a:t>: </a:t>
            </a:r>
            <a:r>
              <a:rPr b="0" dirty="0">
                <a:solidFill>
                  <a:schemeClr val="accent4"/>
                </a:solidFill>
              </a:rPr>
              <a:t>move</a:t>
            </a:r>
            <a:r>
              <a:rPr b="0" dirty="0"/>
              <a:t>, </a:t>
            </a:r>
            <a:r>
              <a:rPr lang="en-US" b="0" dirty="0">
                <a:solidFill>
                  <a:schemeClr val="accent4"/>
                </a:solidFill>
              </a:rPr>
              <a:t>look</a:t>
            </a:r>
            <a:r>
              <a:rPr lang="en-CA" b="0" dirty="0"/>
              <a:t>, </a:t>
            </a:r>
            <a:r>
              <a:rPr lang="en-US" b="0" dirty="0">
                <a:solidFill>
                  <a:schemeClr val="accent4"/>
                </a:solidFill>
              </a:rPr>
              <a:t>sleep</a:t>
            </a:r>
            <a:r>
              <a:rPr b="0" dirty="0"/>
              <a:t>, </a:t>
            </a:r>
            <a:r>
              <a:rPr lang="en-US" b="0" dirty="0">
                <a:solidFill>
                  <a:schemeClr val="accent4"/>
                </a:solidFill>
              </a:rPr>
              <a:t>plow</a:t>
            </a:r>
            <a:endParaRPr b="0" dirty="0">
              <a:solidFill>
                <a:schemeClr val="accent4"/>
              </a:solidFill>
            </a:endParaRPr>
          </a:p>
          <a:p>
            <a:pPr>
              <a:buBlip>
                <a:blip r:embed="rId2"/>
              </a:buBlip>
              <a:defRPr b="1"/>
            </a:pPr>
            <a:r>
              <a:rPr dirty="0"/>
              <a:t>Initial State / Goal</a:t>
            </a:r>
            <a:r>
              <a:rPr b="0" dirty="0"/>
              <a:t>: </a:t>
            </a:r>
            <a:r>
              <a:rPr lang="en-US" b="0" dirty="0"/>
              <a:t>Either get somewhere or clear the snow</a:t>
            </a:r>
            <a:endParaRPr b="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BFD984BD-4E30-4E12-DDD3-D708DFA77762}"/>
              </a:ext>
            </a:extLst>
          </p:cNvPr>
          <p:cNvGrpSpPr/>
          <p:nvPr/>
        </p:nvGrpSpPr>
        <p:grpSpPr>
          <a:xfrm>
            <a:off x="2542941" y="1952280"/>
            <a:ext cx="7106117" cy="2953439"/>
            <a:chOff x="1985263" y="2024200"/>
            <a:chExt cx="7106117" cy="295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EF2AC4-823A-915B-BDEC-B7A47C66E28F}"/>
                </a:ext>
              </a:extLst>
            </p:cNvPr>
            <p:cNvSpPr txBox="1"/>
            <p:nvPr/>
          </p:nvSpPr>
          <p:spPr>
            <a:xfrm>
              <a:off x="4757534" y="4392864"/>
              <a:ext cx="6367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l1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90EC66-2296-ED58-51FE-7AD368A222C3}"/>
                </a:ext>
              </a:extLst>
            </p:cNvPr>
            <p:cNvSpPr txBox="1"/>
            <p:nvPr/>
          </p:nvSpPr>
          <p:spPr>
            <a:xfrm>
              <a:off x="8454667" y="3271277"/>
              <a:ext cx="6367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l5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46B01F-43F8-CA9F-D682-72221B86D4FA}"/>
                </a:ext>
              </a:extLst>
            </p:cNvPr>
            <p:cNvSpPr txBox="1"/>
            <p:nvPr/>
          </p:nvSpPr>
          <p:spPr>
            <a:xfrm>
              <a:off x="6839147" y="2024943"/>
              <a:ext cx="6367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l4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08CD88-F803-9293-B62F-A4C4E916F050}"/>
                </a:ext>
              </a:extLst>
            </p:cNvPr>
            <p:cNvSpPr txBox="1"/>
            <p:nvPr/>
          </p:nvSpPr>
          <p:spPr>
            <a:xfrm>
              <a:off x="4757530" y="2024200"/>
              <a:ext cx="6367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l2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A01EB0-EFE8-4FDC-4F2C-EB83E0F28593}"/>
                </a:ext>
              </a:extLst>
            </p:cNvPr>
            <p:cNvSpPr txBox="1"/>
            <p:nvPr/>
          </p:nvSpPr>
          <p:spPr>
            <a:xfrm>
              <a:off x="6839148" y="4392864"/>
              <a:ext cx="6367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l3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CBCE71C7-32D6-E752-98C0-7C75681D5AA0}"/>
                </a:ext>
              </a:extLst>
            </p:cNvPr>
            <p:cNvCxnSpPr>
              <a:cxnSpLocks/>
              <a:stCxn id="4" idx="0"/>
              <a:endCxn id="7" idx="2"/>
            </p:cNvCxnSpPr>
            <p:nvPr/>
          </p:nvCxnSpPr>
          <p:spPr>
            <a:xfrm rot="16200000" flipV="1">
              <a:off x="4183945" y="3500918"/>
              <a:ext cx="1783889" cy="4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F703C8DD-BCFF-1F14-BB71-72DA209FE0BD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 rot="16200000" flipH="1">
              <a:off x="6265931" y="3501290"/>
              <a:ext cx="1783146" cy="1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5014F027-4B8B-F6A1-93E9-11707228A624}"/>
                </a:ext>
              </a:extLst>
            </p:cNvPr>
            <p:cNvCxnSpPr>
              <a:cxnSpLocks/>
              <a:stCxn id="5" idx="1"/>
              <a:endCxn id="8" idx="3"/>
            </p:cNvCxnSpPr>
            <p:nvPr/>
          </p:nvCxnSpPr>
          <p:spPr>
            <a:xfrm rot="10800000" flipV="1">
              <a:off x="7475861" y="3563664"/>
              <a:ext cx="978806" cy="1121587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53A916BA-B83B-4FB4-0529-4E039A455DD2}"/>
                </a:ext>
              </a:extLst>
            </p:cNvPr>
            <p:cNvCxnSpPr>
              <a:cxnSpLocks/>
              <a:stCxn id="4" idx="3"/>
              <a:endCxn id="8" idx="1"/>
            </p:cNvCxnSpPr>
            <p:nvPr/>
          </p:nvCxnSpPr>
          <p:spPr>
            <a:xfrm>
              <a:off x="5394247" y="4685252"/>
              <a:ext cx="1444901" cy="12700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A5F862B4-E228-4A23-88C0-F7F0F193E1F0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>
              <a:off x="5394243" y="2316588"/>
              <a:ext cx="1444904" cy="74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F926BF8-F7C0-5DD6-A6CC-CCB4A7318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85263" y="2891801"/>
              <a:ext cx="379476" cy="37947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BC7BD6-322F-9DAD-B11C-D0700AE49D05}"/>
                </a:ext>
              </a:extLst>
            </p:cNvPr>
            <p:cNvSpPr txBox="1"/>
            <p:nvPr/>
          </p:nvSpPr>
          <p:spPr>
            <a:xfrm>
              <a:off x="2223873" y="3144004"/>
              <a:ext cx="10887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nsolas" panose="020B0609020204030204" pitchFamily="49" charset="0"/>
                  <a:cs typeface="Aharoni" panose="020B0604020202020204" pitchFamily="2" charset="-79"/>
                </a:rPr>
                <a:t>home</a:t>
              </a:r>
              <a:endParaRPr lang="en-CA" sz="3200" b="1" dirty="0">
                <a:latin typeface="Consolas" panose="020B0609020204030204" pitchFamily="49" charset="0"/>
                <a:cs typeface="Aharoni" panose="020B0604020202020204" pitchFamily="2" charset="-79"/>
              </a:endParaRP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AAB11E40-3FF4-4A8B-3CFD-6DD25EDCB0AA}"/>
                </a:ext>
              </a:extLst>
            </p:cNvPr>
            <p:cNvCxnSpPr>
              <a:cxnSpLocks/>
              <a:stCxn id="27" idx="3"/>
              <a:endCxn id="7" idx="1"/>
            </p:cNvCxnSpPr>
            <p:nvPr/>
          </p:nvCxnSpPr>
          <p:spPr>
            <a:xfrm flipV="1">
              <a:off x="3312633" y="2316588"/>
              <a:ext cx="1444897" cy="1119804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BBEBAD94-8CF1-126F-C4F0-5D24163D2C3F}"/>
                </a:ext>
              </a:extLst>
            </p:cNvPr>
            <p:cNvCxnSpPr>
              <a:cxnSpLocks/>
              <a:stCxn id="27" idx="3"/>
              <a:endCxn id="4" idx="1"/>
            </p:cNvCxnSpPr>
            <p:nvPr/>
          </p:nvCxnSpPr>
          <p:spPr>
            <a:xfrm>
              <a:off x="3312633" y="3436392"/>
              <a:ext cx="1444901" cy="1248860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5ADDBA3B-324F-31C9-A99C-E7480F5752E1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>
              <a:off x="7475860" y="2317331"/>
              <a:ext cx="978807" cy="1246334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2">
                  <a:lumMod val="9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32639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</a:t>
            </a:r>
            <a:r>
              <a:rPr lang="en-US" dirty="0"/>
              <a:t>Moving around snow-free roads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Let’s get the map set up and the person to their destination…</a:t>
            </a:r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moving</a:t>
            </a:r>
          </a:p>
        </p:txBody>
      </p:sp>
    </p:spTree>
    <p:extLst>
      <p:ext uri="{BB962C8B-B14F-4D97-AF65-F5344CB8AC3E}">
        <p14:creationId xmlns:p14="http://schemas.microsoft.com/office/powerpoint/2010/main" val="131583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movinged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03149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</a:t>
            </a:r>
            <a:r>
              <a:rPr lang="en-US" dirty="0"/>
              <a:t>Let it snow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the person looks, they see that</a:t>
            </a:r>
            <a:br>
              <a:rPr lang="en-CA" dirty="0"/>
            </a:br>
            <a:r>
              <a:rPr lang="en-CA" dirty="0"/>
              <a:t>the road is either snowy or not.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letitsnow</a:t>
            </a:r>
            <a:endParaRPr lang="en-CA" sz="2800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1026" name="Picture 2" descr="Game of thrones winter is coming snow GIF - Find on GIFER">
            <a:extLst>
              <a:ext uri="{FF2B5EF4-FFF2-40B4-BE49-F238E27FC236}">
                <a16:creationId xmlns:a16="http://schemas.microsoft.com/office/drawing/2014/main" id="{52C26816-B4F0-E482-E8F3-85F84D734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08" y="0"/>
            <a:ext cx="4884892" cy="274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01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itsnowed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0844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</a:t>
            </a:r>
            <a:r>
              <a:rPr lang="en-US" dirty="0"/>
              <a:t>Better snow analysis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Instead of looking, whenever you enter a location, observe all the connected locations that haven’t been observed already.</a:t>
            </a:r>
            <a:br>
              <a:rPr lang="en-CA" dirty="0"/>
            </a:br>
            <a:endParaRPr lang="en-CA" dirty="0"/>
          </a:p>
          <a:p>
            <a:r>
              <a:rPr lang="en-CA" b="1" dirty="0"/>
              <a:t>Hint</a:t>
            </a:r>
            <a:r>
              <a:rPr lang="en-CA" dirty="0"/>
              <a:t>: Mix of </a:t>
            </a:r>
            <a:r>
              <a:rPr lang="en-CA" i="1" dirty="0" err="1"/>
              <a:t>forall</a:t>
            </a:r>
            <a:r>
              <a:rPr lang="en-CA" dirty="0"/>
              <a:t> and </a:t>
            </a:r>
            <a:r>
              <a:rPr lang="en-CA" i="1" dirty="0"/>
              <a:t>when </a:t>
            </a:r>
            <a:r>
              <a:rPr lang="en-CA" dirty="0"/>
              <a:t>and (of course) </a:t>
            </a:r>
            <a:r>
              <a:rPr lang="en-CA" i="1" dirty="0" err="1"/>
              <a:t>oneof</a:t>
            </a:r>
            <a:endParaRPr lang="en-CA" i="1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bettersnow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989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bestsnow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3747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4. </a:t>
            </a:r>
            <a:r>
              <a:rPr lang="en-US" dirty="0"/>
              <a:t>Going home to sleep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57687" cy="4351338"/>
          </a:xfrm>
        </p:spPr>
        <p:txBody>
          <a:bodyPr/>
          <a:lstStyle/>
          <a:p>
            <a:r>
              <a:rPr lang="en-CA" dirty="0"/>
              <a:t>If at home, have a sleep action that</a:t>
            </a:r>
            <a:br>
              <a:rPr lang="en-CA" dirty="0"/>
            </a:br>
            <a:r>
              <a:rPr lang="en-CA" dirty="0"/>
              <a:t>resets all of the observations. Make</a:t>
            </a:r>
            <a:br>
              <a:rPr lang="en-CA" dirty="0"/>
            </a:br>
            <a:r>
              <a:rPr lang="en-CA" dirty="0"/>
              <a:t>it expensive!</a:t>
            </a:r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sleepaintcheap</a:t>
            </a:r>
            <a:endParaRPr lang="en-CA" dirty="0"/>
          </a:p>
        </p:txBody>
      </p:sp>
      <p:pic>
        <p:nvPicPr>
          <p:cNvPr id="2050" name="Picture 2" descr="Baby-yoda-sleep GIFs - Get the best GIF on GIPHY">
            <a:extLst>
              <a:ext uri="{FF2B5EF4-FFF2-40B4-BE49-F238E27FC236}">
                <a16:creationId xmlns:a16="http://schemas.microsoft.com/office/drawing/2014/main" id="{185E5883-8DB7-E05B-81F7-FB2317137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719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zzz</a:t>
            </a:r>
          </a:p>
        </p:txBody>
      </p:sp>
    </p:spTree>
    <p:extLst>
      <p:ext uri="{BB962C8B-B14F-4D97-AF65-F5344CB8AC3E}">
        <p14:creationId xmlns:p14="http://schemas.microsoft.com/office/powerpoint/2010/main" val="64654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Navigate </a:t>
            </a:r>
            <a:r>
              <a:rPr lang="en-US" dirty="0"/>
              <a:t>2-way streets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Change back to a “look” action model</a:t>
            </a:r>
            <a:br>
              <a:rPr lang="en-CA" dirty="0"/>
            </a:br>
            <a:endParaRPr lang="en-CA" dirty="0"/>
          </a:p>
          <a:p>
            <a:r>
              <a:rPr lang="en-CA" dirty="0"/>
              <a:t>Observe the snow status in both directions:</a:t>
            </a:r>
          </a:p>
          <a:p>
            <a:pPr lvl="1"/>
            <a:r>
              <a:rPr lang="en-CA" dirty="0"/>
              <a:t>Either snow is on one of the roads, or neither</a:t>
            </a:r>
          </a:p>
          <a:p>
            <a:pPr lvl="1"/>
            <a:r>
              <a:rPr lang="en-CA" b="1" dirty="0"/>
              <a:t>Hint</a:t>
            </a:r>
            <a:r>
              <a:rPr lang="en-CA" dirty="0"/>
              <a:t>: You can nest the </a:t>
            </a:r>
            <a:r>
              <a:rPr lang="en-CA" i="1" dirty="0" err="1"/>
              <a:t>oneof</a:t>
            </a:r>
            <a:r>
              <a:rPr lang="en-CA" dirty="0" err="1"/>
              <a:t>’s</a:t>
            </a:r>
            <a:r>
              <a:rPr lang="en-CA" dirty="0"/>
              <a:t>!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oneoneofof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2421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oneofed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8505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3" y="1562746"/>
            <a:ext cx="2916504" cy="1325563"/>
          </a:xfrm>
        </p:spPr>
        <p:txBody>
          <a:bodyPr/>
          <a:lstStyle/>
          <a:p>
            <a:r>
              <a:rPr lang="en-CA" dirty="0"/>
              <a:t>6. </a:t>
            </a:r>
            <a:r>
              <a:rPr lang="en-US" dirty="0" err="1"/>
              <a:t>Mr</a:t>
            </a:r>
            <a:r>
              <a:rPr lang="en-US" dirty="0"/>
              <a:t> Plow!</a:t>
            </a:r>
            <a:endParaRPr lang="en-CA" dirty="0"/>
          </a:p>
        </p:txBody>
      </p:sp>
      <p:pic>
        <p:nvPicPr>
          <p:cNvPr id="6" name="Online Media 3" title="Mr. Plow | TV commercial">
            <a:hlinkClick r:id="" action="ppaction://media"/>
            <a:extLst>
              <a:ext uri="{FF2B5EF4-FFF2-40B4-BE49-F238E27FC236}">
                <a16:creationId xmlns:a16="http://schemas.microsoft.com/office/drawing/2014/main" id="{AC478634-553A-9E56-E469-9165BD3BBD1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325827" y="139527"/>
            <a:ext cx="8771928" cy="657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80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6. </a:t>
            </a:r>
            <a:r>
              <a:rPr lang="en-US" dirty="0" err="1"/>
              <a:t>Mr</a:t>
            </a:r>
            <a:r>
              <a:rPr lang="en-US" dirty="0"/>
              <a:t> Plow!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Instead of observed, we’ll use a “maybe-snow” fluent</a:t>
            </a:r>
            <a:br>
              <a:rPr lang="en-CA" dirty="0"/>
            </a:br>
            <a:endParaRPr lang="en-CA" dirty="0"/>
          </a:p>
          <a:p>
            <a:r>
              <a:rPr lang="en-CA" dirty="0"/>
              <a:t>New “</a:t>
            </a:r>
            <a:r>
              <a:rPr lang="en-CA" dirty="0" err="1"/>
              <a:t>mustsleep</a:t>
            </a:r>
            <a:r>
              <a:rPr lang="en-CA" dirty="0"/>
              <a:t>” fluent with a negative precondition on everything but actually, you know, sleeping</a:t>
            </a:r>
            <a:br>
              <a:rPr lang="en-CA" dirty="0"/>
            </a:br>
            <a:endParaRPr lang="en-CA" dirty="0"/>
          </a:p>
          <a:p>
            <a:r>
              <a:rPr lang="en-CA" dirty="0"/>
              <a:t>New “plow” action that removes the snow on an adjacent road</a:t>
            </a:r>
            <a:br>
              <a:rPr lang="en-CA" dirty="0"/>
            </a:br>
            <a:endParaRPr lang="en-CA" dirty="0"/>
          </a:p>
          <a:p>
            <a:r>
              <a:rPr lang="en-CA" dirty="0"/>
              <a:t>New “done” action that does the following:</a:t>
            </a:r>
          </a:p>
          <a:p>
            <a:pPr lvl="1"/>
            <a:r>
              <a:rPr lang="en-CA" dirty="0"/>
              <a:t>Confirms the person is home and every road is clear</a:t>
            </a:r>
          </a:p>
          <a:p>
            <a:pPr lvl="1"/>
            <a:r>
              <a:rPr lang="en-CA" dirty="0"/>
              <a:t>Makes it so the person “</a:t>
            </a:r>
            <a:r>
              <a:rPr lang="en-CA" dirty="0" err="1"/>
              <a:t>mustsleep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Non-deterministically achieves a new “done” fluent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50DCCD-CE9E-9D19-D259-CD8A317620D1}"/>
              </a:ext>
            </a:extLst>
          </p:cNvPr>
          <p:cNvSpPr/>
          <p:nvPr/>
        </p:nvSpPr>
        <p:spPr>
          <a:xfrm>
            <a:off x="7073265" y="496333"/>
            <a:ext cx="4066683" cy="752559"/>
          </a:xfrm>
          <a:prstGeom prst="rect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/>
              <a:t>fond  /  </a:t>
            </a:r>
            <a:r>
              <a:rPr lang="en-CA" sz="2800" dirty="0" err="1"/>
              <a:t>mrplow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79614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/>
              <a:t>fond  /  </a:t>
            </a:r>
            <a:r>
              <a:rPr lang="en-CA" sz="2800" dirty="0" err="1"/>
              <a:t>megafin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25816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45925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404</Words>
  <Application>Microsoft Office PowerPoint</Application>
  <PresentationFormat>Widescreen</PresentationFormat>
  <Paragraphs>89</Paragraphs>
  <Slides>20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Source Sans Pro</vt:lpstr>
      <vt:lpstr>FunkyShapesDarkVTI</vt:lpstr>
      <vt:lpstr>Modelling Exercise</vt:lpstr>
      <vt:lpstr>PowerPoint Presentation</vt:lpstr>
      <vt:lpstr>PowerPoint Presentation</vt:lpstr>
      <vt:lpstr>PowerPoint Presentation</vt:lpstr>
      <vt:lpstr>Summary</vt:lpstr>
      <vt:lpstr>PowerPoint Presentation</vt:lpstr>
      <vt:lpstr>1. Moving around snow-free roads</vt:lpstr>
      <vt:lpstr>PowerPoint Presentation</vt:lpstr>
      <vt:lpstr>2. Let it snow</vt:lpstr>
      <vt:lpstr>PowerPoint Presentation</vt:lpstr>
      <vt:lpstr>3. Better snow analysis</vt:lpstr>
      <vt:lpstr>PowerPoint Presentation</vt:lpstr>
      <vt:lpstr>4. Going home to sleep</vt:lpstr>
      <vt:lpstr>PowerPoint Presentation</vt:lpstr>
      <vt:lpstr>5. Navigate 2-way streets</vt:lpstr>
      <vt:lpstr>PowerPoint Presentation</vt:lpstr>
      <vt:lpstr>6. Mr Plow!</vt:lpstr>
      <vt:lpstr>6. Mr Plow!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Exercise</dc:title>
  <dc:creator>Christian Muise</dc:creator>
  <cp:lastModifiedBy>Christian Muise</cp:lastModifiedBy>
  <cp:revision>24</cp:revision>
  <dcterms:created xsi:type="dcterms:W3CDTF">2022-12-22T14:48:06Z</dcterms:created>
  <dcterms:modified xsi:type="dcterms:W3CDTF">2025-09-24T02:12:37Z</dcterms:modified>
</cp:coreProperties>
</file>